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7" r:id="rId2"/>
    <p:sldId id="448" r:id="rId3"/>
    <p:sldId id="449" r:id="rId4"/>
    <p:sldId id="450" r:id="rId5"/>
    <p:sldId id="469" r:id="rId6"/>
    <p:sldId id="470" r:id="rId7"/>
    <p:sldId id="452" r:id="rId8"/>
    <p:sldId id="475" r:id="rId9"/>
    <p:sldId id="463" r:id="rId10"/>
    <p:sldId id="471" r:id="rId11"/>
    <p:sldId id="473" r:id="rId12"/>
    <p:sldId id="476" r:id="rId13"/>
    <p:sldId id="461" r:id="rId14"/>
    <p:sldId id="47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4" autoAdjust="0"/>
    <p:restoredTop sz="94660"/>
  </p:normalViewPr>
  <p:slideViewPr>
    <p:cSldViewPr snapToGrid="0">
      <p:cViewPr varScale="1">
        <p:scale>
          <a:sx n="65" d="100"/>
          <a:sy n="65" d="100"/>
        </p:scale>
        <p:origin x="27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04B3A-DFDD-4889-A16E-66C5762F5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B3D522-30A8-4107-81DB-1A9AFE4CB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F8104-36E1-4CE3-A335-C3A47167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0E8717-67BA-4DAC-8B54-47FE950D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833B71-90FB-432B-B00A-CA3F9FB0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68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B0755-F536-4E9B-B151-A0642FF1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084B0-87D9-4360-991F-12690C730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D69DED-E8B5-48B5-8200-ABB19818D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0830A-3A1F-44C3-89E0-4AEB8582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12E1CF-D5FE-46DB-9F48-275FCF7E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10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7AF49-66BD-48BC-A6EF-85C1F1DA6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49983E-A82D-46D1-9FAF-38EB9961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2698FD-DA39-49F9-8FB3-0C13597F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B64BF7-1B5C-446A-AD7F-D8E79B3C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0C612D-66FD-4439-B55A-B4852C17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00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210FD-A2C8-4893-80D8-61CA5D0A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0AF6B0-D82B-42DA-B912-008C343E5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B73DA1-9BEC-4637-8B91-61FEEC4DD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18DCF4-1A6D-4D62-A6E9-4815BD0B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250F63-E3AA-4294-88C5-F56EC971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C44868-280C-4E8A-BCB7-A49F35FF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107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FA268-61EF-4B20-86EE-A537F842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0F1E73-EB70-403B-B82C-3123A4921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CDFB37-CA91-49C1-9C7B-5338881C1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58DD49-2691-411C-A4A2-FE1D9DEE6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D74901-70B8-47DF-A11E-8F60932C8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9EF147E-AC89-46D1-9EE3-6A33E1EC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70E649-8B5C-42A8-B03D-7D0FA641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65B9B3-EA97-482E-B516-B9961787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11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4069E-4BF4-4884-BA09-4C4906C6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BB00A8-040A-41CF-88AF-3B765621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00BF42-4522-4952-BF54-CA1866B0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4897B5-96D5-4C9D-8FD0-3B3A4754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877A79-9BDA-47F6-B9DE-656F2326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F0B32E-1549-4624-B261-7D6FA2324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DBC07E-464E-4DB5-864F-56A010E8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60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572DC-F73D-41E8-96EF-DF4000BE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80D3C2-CF31-4127-B162-072C7E950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5F1D31-D367-4383-B833-79F753A4C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20941E-5BBA-4251-9F80-971006DB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AC930E-70ED-4FE6-B2A0-2E89A8DE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AAF58C-1768-427A-B830-16D6A21F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1E35A-175A-4EE5-AAD3-FCA6E3AE5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70B501B-72E3-4CB2-AE27-F07F7B59D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A19741-166A-478D-8191-DF4C8BC70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109752-7DD0-40C4-98A0-68FBDB43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7D05C6-A33E-4E69-A92D-454B4B3D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941DF7-8991-465B-97FE-D352716C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29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B6848-7A7A-4DCB-A345-297B1FB4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5332FE-15E9-4438-8E34-C5249A731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972151-5AE4-4404-9917-E9B82F53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482188-BCB2-407F-9966-7C0A6295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594152-5869-414E-A25A-2877B229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68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151882-103D-49D9-A431-21A544D49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D44173-94AB-47CD-9BFA-5333E10F5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0E057-C2AE-402D-91B0-BD9D1F96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AA1499-4630-4541-8A74-573F4896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61A05-F44B-454B-A033-AFD50F84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8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89AB8-1912-4AFD-BAAB-91DA007C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60E4A0-B4CB-4425-BFDC-CE5DA41F1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BD414E-96D7-478F-92DD-4B757EF37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4A84-C4DC-4FBB-9856-362EF025D5E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B0561F-6826-4B3D-8118-9458E3B57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0A926-6E17-40FB-8746-D51E7C7BD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04AC6-AEC1-43CE-ACD0-F16E7F7847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59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EB7436-7354-4383-8C11-79FA8E2A518F}"/>
              </a:ext>
            </a:extLst>
          </p:cNvPr>
          <p:cNvSpPr/>
          <p:nvPr/>
        </p:nvSpPr>
        <p:spPr>
          <a:xfrm>
            <a:off x="0" y="-40116"/>
            <a:ext cx="2224271" cy="6882876"/>
          </a:xfrm>
          <a:prstGeom prst="rect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117" y="200044"/>
            <a:ext cx="1608683" cy="1587517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1941380" y="266739"/>
            <a:ext cx="9897694" cy="793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b="1" spc="100" dirty="0">
                <a:solidFill>
                  <a:srgbClr val="000000"/>
                </a:solidFill>
                <a:latin typeface="Times New Roman" panose="02020603050405020304" pitchFamily="18" charset="0"/>
                <a:ea typeface="Arial Regular"/>
                <a:cs typeface="Times New Roman" panose="02020603050405020304" pitchFamily="18" charset="0"/>
              </a:rPr>
              <a:t>Майкопский государственный гуманитарно-технический колледж</a:t>
            </a:r>
            <a:br>
              <a:rPr b="1" spc="100" dirty="0">
                <a:latin typeface="Times New Roman" panose="02020603050405020304" pitchFamily="18" charset="0"/>
                <a:ea typeface="Arial Regular"/>
                <a:cs typeface="Times New Roman" panose="02020603050405020304" pitchFamily="18" charset="0"/>
              </a:rPr>
            </a:br>
            <a:r>
              <a:rPr lang="en-US" b="1" spc="100" dirty="0">
                <a:solidFill>
                  <a:srgbClr val="000000"/>
                </a:solidFill>
                <a:latin typeface="Times New Roman" panose="02020603050405020304" pitchFamily="18" charset="0"/>
                <a:ea typeface="Arial Regular"/>
                <a:cs typeface="Times New Roman" panose="02020603050405020304" pitchFamily="18" charset="0"/>
              </a:rPr>
              <a:t>федерального государственного бюджетного образовательного учреждения
высшего образования «Адыгейский государственный университет»</a:t>
            </a:r>
            <a:endParaRPr lang="en-US" b="1" spc="100" dirty="0">
              <a:latin typeface="Times New Roman" panose="02020603050405020304" pitchFamily="18" charset="0"/>
              <a:ea typeface="Arial Regular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67038" y="1844594"/>
            <a:ext cx="10646377" cy="60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75"/>
              </a:lnSpc>
              <a:buNone/>
            </a:pPr>
            <a:r>
              <a:rPr lang="ru-RU" sz="2200" dirty="0">
                <a:solidFill>
                  <a:srgbClr val="182E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ДИПЛОМНЫЙ ПРОЕКТ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048914" y="3024462"/>
            <a:ext cx="100571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800" b="1" dirty="0">
                <a:solidFill>
                  <a:srgbClr val="20599D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dirty="0">
                <a:solidFill>
                  <a:srgbClr val="182E7E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Разработка программно-технических мероприятий по защите информации на объекте</a:t>
            </a:r>
            <a:endParaRPr lang="ru-RU" altLang="ru-RU" sz="2200" dirty="0">
              <a:solidFill>
                <a:srgbClr val="182E7E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406896" y="2635434"/>
            <a:ext cx="102749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на тему: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463692" y="5517905"/>
            <a:ext cx="4399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Выполнил: студент группы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ОИБ-4</a:t>
            </a:r>
          </a:p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ФИО</a:t>
            </a:r>
            <a:endParaRPr lang="ru-RU" alt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Руководитель: ФИО</a:t>
            </a:r>
            <a:endParaRPr lang="ru-RU" alt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863099" y="4275264"/>
            <a:ext cx="80542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специальность 10.02.05 Обеспечение информационной безопасности  автоматизированных систем</a:t>
            </a:r>
            <a:endParaRPr lang="ru-RU" alt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-114897" y="3129445"/>
            <a:ext cx="2278708" cy="574235"/>
          </a:xfrm>
          <a:prstGeom prst="rect">
            <a:avLst/>
          </a:prstGeom>
        </p:spPr>
      </p:pic>
      <p:sp>
        <p:nvSpPr>
          <p:cNvPr id="20" name="Овал 19"/>
          <p:cNvSpPr/>
          <p:nvPr/>
        </p:nvSpPr>
        <p:spPr>
          <a:xfrm>
            <a:off x="328428" y="5251389"/>
            <a:ext cx="1392060" cy="1307640"/>
          </a:xfrm>
          <a:prstGeom prst="ellipse">
            <a:avLst/>
          </a:prstGeom>
          <a:solidFill>
            <a:srgbClr val="F0F0F0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-135640" y="5705154"/>
            <a:ext cx="24955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000" b="1" dirty="0">
                <a:solidFill>
                  <a:srgbClr val="182E7E"/>
                </a:solidFill>
                <a:latin typeface="Times New Roman" pitchFamily="18" charset="0"/>
                <a:cs typeface="Times New Roman" pitchFamily="18" charset="0"/>
              </a:rPr>
              <a:t>2024 г.</a:t>
            </a:r>
          </a:p>
        </p:txBody>
      </p:sp>
    </p:spTree>
    <p:extLst>
      <p:ext uri="{BB962C8B-B14F-4D97-AF65-F5344CB8AC3E}">
        <p14:creationId xmlns:p14="http://schemas.microsoft.com/office/powerpoint/2010/main" val="106143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693699" y="1685630"/>
            <a:ext cx="10773257" cy="829574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  - ООО «</a:t>
            </a:r>
            <a:r>
              <a:rPr lang="ru-RU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Картонтара</a:t>
            </a: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631175" y="3014213"/>
            <a:ext cx="10773257" cy="829574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– существующие программно-технические мероприятия по защите информации на этом объекте.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33615" y="1040750"/>
            <a:ext cx="1408384" cy="354913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4133277" y="297477"/>
            <a:ext cx="7333678" cy="743273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55806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693699" y="1449613"/>
            <a:ext cx="10773258" cy="1183793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- </a:t>
            </a: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реализация эффективной системы защиты информации для объекта “</a:t>
            </a:r>
            <a:r>
              <a:rPr lang="ru-RU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Картонтара</a:t>
            </a: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”, которая обеспечивает безопасность данных и предотвращает несанкционированный доступ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631175" y="2788606"/>
            <a:ext cx="10773257" cy="2968226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 :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защищаемую информацию;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угрозы и уязвимости;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меры защиты информации;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средства защиты </a:t>
            </a:r>
            <a:r>
              <a:rPr lang="ru-RU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информацтт</a:t>
            </a: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системы защиты информации.</a:t>
            </a:r>
          </a:p>
          <a:p>
            <a:pPr algn="just"/>
            <a:endPara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278951" y="1009445"/>
            <a:ext cx="1408384" cy="354913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779710" y="608906"/>
            <a:ext cx="1408384" cy="354913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74759" y="194224"/>
            <a:ext cx="1408384" cy="35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1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2876550" y="318459"/>
            <a:ext cx="8952928" cy="1366394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Определения основных понятий, изучаемых в работе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24065" y="1001656"/>
            <a:ext cx="1408384" cy="354913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602259" y="1956168"/>
            <a:ext cx="11061421" cy="1436303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Программная защита - 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специальное программное обеспечение и программные комплексы, предназначенные для защиты информации в информационном пространстве</a:t>
            </a:r>
            <a:endPara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647978" y="3647712"/>
            <a:ext cx="10969981" cy="1862750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Техническая защита -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комплекс мероприятий, направленных на предотвращение утечки защищаемой информации по техническим каналам, на предотвращение несанкционированного доступа к ней, ее модификации, искажения, копирования, блокирования или уничтожения.</a:t>
            </a:r>
            <a:endParaRPr lang="ru-RU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FAB197-6EAF-4DEA-BD04-8AA4AA2E0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726" y="1939373"/>
            <a:ext cx="7596947" cy="3501852"/>
          </a:xfrm>
          <a:prstGeom prst="rect">
            <a:avLst/>
          </a:prstGeom>
        </p:spPr>
      </p:pic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667A6A-8E9B-4830-B719-A3F90DD80587}"/>
              </a:ext>
            </a:extLst>
          </p:cNvPr>
          <p:cNvSpPr txBox="1"/>
          <p:nvPr/>
        </p:nvSpPr>
        <p:spPr>
          <a:xfrm>
            <a:off x="2678333" y="2502338"/>
            <a:ext cx="72923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Основная информация.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Контактная информация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Информация о трудовой деятельности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Информация о зарплате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Информация о социальном и пенсионном страховании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Коммерческая тайна</a:t>
            </a:r>
          </a:p>
          <a:p>
            <a:pPr marL="342900" indent="-342900" algn="r">
              <a:buFont typeface="Wingdings" panose="05000000000000000000" pitchFamily="2" charset="2"/>
              <a:buChar char="§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06BA5-2046-4B84-85B8-1FFEE3AFCFBC}"/>
              </a:ext>
            </a:extLst>
          </p:cNvPr>
          <p:cNvSpPr txBox="1"/>
          <p:nvPr/>
        </p:nvSpPr>
        <p:spPr>
          <a:xfrm>
            <a:off x="3747045" y="1990023"/>
            <a:ext cx="4950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организации обрабатывается :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93ABC9-D094-44E0-88B8-0AE37DF02FBA}"/>
              </a:ext>
            </a:extLst>
          </p:cNvPr>
          <p:cNvSpPr/>
          <p:nvPr/>
        </p:nvSpPr>
        <p:spPr>
          <a:xfrm>
            <a:off x="2277047" y="311180"/>
            <a:ext cx="7637906" cy="1119541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388282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2FF74F7-EF9B-482A-8930-03234662ABD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744855"/>
            <a:ext cx="6629400" cy="536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7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C4A35E92-CAF7-4F7A-8225-EF2C831209E5}"/>
              </a:ext>
            </a:extLst>
          </p:cNvPr>
          <p:cNvGrpSpPr/>
          <p:nvPr/>
        </p:nvGrpSpPr>
        <p:grpSpPr>
          <a:xfrm>
            <a:off x="1951463" y="512956"/>
            <a:ext cx="8697952" cy="5720576"/>
            <a:chOff x="835602" y="0"/>
            <a:chExt cx="10520795" cy="6858000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F9FB2505-C665-4828-8458-3FCAC012E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5602" y="0"/>
              <a:ext cx="10520795" cy="685800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A7E51327-6EE2-48F7-9D4D-9C2D624C1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66846" y="1065263"/>
              <a:ext cx="274320" cy="277393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F20A5FF7-82D6-4EA3-9362-9C5C45626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3486" y="928102"/>
              <a:ext cx="274320" cy="277393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F6BB9991-F1F6-4DC8-AC2A-D1E488FED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802036" y="689343"/>
              <a:ext cx="274320" cy="277393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3EB90ADB-5034-4D77-86F8-CB36CF073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039" y="1829952"/>
              <a:ext cx="348616" cy="307143"/>
            </a:xfrm>
            <a:prstGeom prst="rect">
              <a:avLst/>
            </a:prstGeom>
          </p:spPr>
        </p:pic>
      </p:grp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2D55213-9D08-435D-915B-894652809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1089" y="4737923"/>
            <a:ext cx="854959" cy="4616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C842FC-D8A6-4929-8D00-98DD83AF12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9845" y="4692229"/>
            <a:ext cx="631824" cy="33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64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66956" y="6128186"/>
            <a:ext cx="725044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EB7E3FC-8EAE-4BD6-B9D7-24BEEBD7CFE8}"/>
              </a:ext>
            </a:extLst>
          </p:cNvPr>
          <p:cNvSpPr/>
          <p:nvPr/>
        </p:nvSpPr>
        <p:spPr>
          <a:xfrm>
            <a:off x="2247899" y="436126"/>
            <a:ext cx="7327481" cy="949582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Меры защиты информации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4DCF4AB-7DA0-4D16-B92A-CF69BAD70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242" y="1544785"/>
            <a:ext cx="9295002" cy="48204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2F5B20D-ECC2-4863-A94B-855F9DBD09C0}"/>
              </a:ext>
            </a:extLst>
          </p:cNvPr>
          <p:cNvSpPr txBox="1"/>
          <p:nvPr/>
        </p:nvSpPr>
        <p:spPr>
          <a:xfrm>
            <a:off x="1967404" y="1641551"/>
            <a:ext cx="9583442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4й уровень защищенности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Меры: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установление эффективных мер по защите от внешних угроз;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регулярный мониторинг и аудит систем безопасности;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журналов безопасности;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резервного копирования;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машинных носителей персональных данных;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доступа и назначение полномочий пользователям.</a:t>
            </a:r>
          </a:p>
          <a:p>
            <a:pPr algn="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1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C038BD-3C3F-4ABD-B0D0-29689C1AC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826" y="4631230"/>
            <a:ext cx="4173538" cy="1447940"/>
          </a:xfrm>
          <a:prstGeom prst="rect">
            <a:avLst/>
          </a:prstGeom>
        </p:spPr>
      </p:pic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582400" y="6184230"/>
            <a:ext cx="609599" cy="673769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86C2E-F959-4D33-8A02-BB2B119A7A9E}"/>
              </a:ext>
            </a:extLst>
          </p:cNvPr>
          <p:cNvSpPr txBox="1"/>
          <p:nvPr/>
        </p:nvSpPr>
        <p:spPr>
          <a:xfrm>
            <a:off x="34311" y="4479018"/>
            <a:ext cx="4063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лектромагнитный замок TM Touch Memory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97CDCC-4E9D-4C21-974C-59F2ACB9D5B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251" y="1923084"/>
            <a:ext cx="3055620" cy="263754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8442" y="276122"/>
            <a:ext cx="1365173" cy="1347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8B608F-34D7-47E0-9940-B53FE69B8827}"/>
              </a:ext>
            </a:extLst>
          </p:cNvPr>
          <p:cNvSpPr txBox="1"/>
          <p:nvPr/>
        </p:nvSpPr>
        <p:spPr>
          <a:xfrm>
            <a:off x="8123722" y="4479729"/>
            <a:ext cx="345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Видеокамера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Ginzzu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HK-840N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F17819-86B0-489F-8581-221076C43E74}"/>
              </a:ext>
            </a:extLst>
          </p:cNvPr>
          <p:cNvSpPr/>
          <p:nvPr/>
        </p:nvSpPr>
        <p:spPr>
          <a:xfrm>
            <a:off x="2247899" y="436126"/>
            <a:ext cx="7327481" cy="949582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защиты.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1C43D88-1C25-46A3-8756-2B32B359462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256" y="4571779"/>
            <a:ext cx="4095003" cy="1861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5D30C6-6120-4CA5-AD8A-AC6CE86B618A}"/>
              </a:ext>
            </a:extLst>
          </p:cNvPr>
          <p:cNvSpPr txBox="1"/>
          <p:nvPr/>
        </p:nvSpPr>
        <p:spPr>
          <a:xfrm>
            <a:off x="3949883" y="6063690"/>
            <a:ext cx="440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Межсетевой экран Континент 4 IPC-R1000</a:t>
            </a:r>
            <a:endParaRPr lang="ru-RU" dirty="0"/>
          </a:p>
        </p:txBody>
      </p:sp>
      <p:pic>
        <p:nvPicPr>
          <p:cNvPr id="15" name="Picture 8" descr="Picture background">
            <a:extLst>
              <a:ext uri="{FF2B5EF4-FFF2-40B4-BE49-F238E27FC236}">
                <a16:creationId xmlns:a16="http://schemas.microsoft.com/office/drawing/2014/main" id="{36A738FC-5E8C-4CA1-8179-4CD5B88E7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369" y="1623333"/>
            <a:ext cx="2034540" cy="209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43AE30-CF48-40F8-A527-F5B8FB7C2AB8}"/>
              </a:ext>
            </a:extLst>
          </p:cNvPr>
          <p:cNvSpPr txBox="1"/>
          <p:nvPr/>
        </p:nvSpPr>
        <p:spPr>
          <a:xfrm>
            <a:off x="4631581" y="3684421"/>
            <a:ext cx="345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Kaspersky Security Centre	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B66B225-BF7A-4407-890B-AAA27EE9B68D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66" y="1712179"/>
            <a:ext cx="2639667" cy="28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7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409028" y="6128186"/>
            <a:ext cx="782972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C7FD681-9DD2-41F6-BFD5-96C448E2B595}"/>
              </a:ext>
            </a:extLst>
          </p:cNvPr>
          <p:cNvGrpSpPr/>
          <p:nvPr/>
        </p:nvGrpSpPr>
        <p:grpSpPr>
          <a:xfrm>
            <a:off x="1533615" y="490653"/>
            <a:ext cx="9573000" cy="5731727"/>
            <a:chOff x="835602" y="-191703"/>
            <a:chExt cx="10520795" cy="6858000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EEB4357-7A1E-467B-BAF2-169E4BE0FC1E}"/>
                </a:ext>
              </a:extLst>
            </p:cNvPr>
            <p:cNvGrpSpPr/>
            <p:nvPr/>
          </p:nvGrpSpPr>
          <p:grpSpPr>
            <a:xfrm>
              <a:off x="835602" y="-191703"/>
              <a:ext cx="10520795" cy="6858000"/>
              <a:chOff x="835602" y="-15240"/>
              <a:chExt cx="10520795" cy="6858000"/>
            </a:xfrm>
          </p:grpSpPr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50C4FB74-6274-4361-99C3-102544E690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5602" y="-15240"/>
                <a:ext cx="10520795" cy="6858000"/>
              </a:xfrm>
              <a:prstGeom prst="rect">
                <a:avLst/>
              </a:prstGeom>
            </p:spPr>
          </p:pic>
          <p:pic>
            <p:nvPicPr>
              <p:cNvPr id="20" name="Рисунок 19">
                <a:extLst>
                  <a:ext uri="{FF2B5EF4-FFF2-40B4-BE49-F238E27FC236}">
                    <a16:creationId xmlns:a16="http://schemas.microsoft.com/office/drawing/2014/main" id="{0454FB6B-09BC-40A2-BC4C-3F13441F03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3366845" y="1065263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1" name="Рисунок 20">
                <a:extLst>
                  <a:ext uri="{FF2B5EF4-FFF2-40B4-BE49-F238E27FC236}">
                    <a16:creationId xmlns:a16="http://schemas.microsoft.com/office/drawing/2014/main" id="{63EA1816-3E08-4FC6-A3E1-D7E6937CE7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93486" y="928102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8B10DAFC-4F62-4707-8F8E-75AE3853D6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10802036" y="689343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3" name="Рисунок 22">
                <a:extLst>
                  <a:ext uri="{FF2B5EF4-FFF2-40B4-BE49-F238E27FC236}">
                    <a16:creationId xmlns:a16="http://schemas.microsoft.com/office/drawing/2014/main" id="{A800A39A-7313-46C2-AE3A-DFA74D47E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2734386" y="2924543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4" name="Рисунок 23">
                <a:extLst>
                  <a:ext uri="{FF2B5EF4-FFF2-40B4-BE49-F238E27FC236}">
                    <a16:creationId xmlns:a16="http://schemas.microsoft.com/office/drawing/2014/main" id="{5CBE9842-EC02-4C0C-A30E-AC545FADA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59087" y="3709404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5" name="Рисунок 24">
                <a:extLst>
                  <a:ext uri="{FF2B5EF4-FFF2-40B4-BE49-F238E27FC236}">
                    <a16:creationId xmlns:a16="http://schemas.microsoft.com/office/drawing/2014/main" id="{94273B44-8E45-415B-9617-1B932C354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59727" y="6018264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6" name="Рисунок 25">
                <a:extLst>
                  <a:ext uri="{FF2B5EF4-FFF2-40B4-BE49-F238E27FC236}">
                    <a16:creationId xmlns:a16="http://schemas.microsoft.com/office/drawing/2014/main" id="{9487A800-2246-4A4B-B1E9-93FD67EBD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47438" y="6358876"/>
                <a:ext cx="304843" cy="190527"/>
              </a:xfrm>
              <a:prstGeom prst="rect">
                <a:avLst/>
              </a:prstGeom>
            </p:spPr>
          </p:pic>
          <p:pic>
            <p:nvPicPr>
              <p:cNvPr id="27" name="Рисунок 26">
                <a:extLst>
                  <a:ext uri="{FF2B5EF4-FFF2-40B4-BE49-F238E27FC236}">
                    <a16:creationId xmlns:a16="http://schemas.microsoft.com/office/drawing/2014/main" id="{DBFF6926-71EF-442F-8A25-8031B1FE6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6362699" y="6315442"/>
                <a:ext cx="274320" cy="277393"/>
              </a:xfrm>
              <a:prstGeom prst="rect">
                <a:avLst/>
              </a:prstGeom>
            </p:spPr>
          </p:pic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1AE5EE86-0A1F-4CAA-BC6F-F54147ECD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0039" y="1829952"/>
                <a:ext cx="348616" cy="307143"/>
              </a:xfrm>
              <a:prstGeom prst="rect">
                <a:avLst/>
              </a:prstGeom>
            </p:spPr>
          </p:pic>
          <p:pic>
            <p:nvPicPr>
              <p:cNvPr id="29" name="Рисунок 28">
                <a:extLst>
                  <a:ext uri="{FF2B5EF4-FFF2-40B4-BE49-F238E27FC236}">
                    <a16:creationId xmlns:a16="http://schemas.microsoft.com/office/drawing/2014/main" id="{E833218D-2BC8-455D-83C4-7B31F95D5E4F}"/>
                  </a:ext>
                </a:extLst>
              </p:cNvPr>
              <p:cNvPicPr/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05328" y="3642040"/>
                <a:ext cx="314327" cy="108585"/>
              </a:xfrm>
              <a:prstGeom prst="rect">
                <a:avLst/>
              </a:prstGeom>
            </p:spPr>
          </p:pic>
          <p:pic>
            <p:nvPicPr>
              <p:cNvPr id="30" name="Рисунок 29">
                <a:extLst>
                  <a:ext uri="{FF2B5EF4-FFF2-40B4-BE49-F238E27FC236}">
                    <a16:creationId xmlns:a16="http://schemas.microsoft.com/office/drawing/2014/main" id="{9EE71C0C-D365-45B2-8F19-9CB112C4BDC5}"/>
                  </a:ext>
                </a:extLst>
              </p:cNvPr>
              <p:cNvPicPr/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9161" y="5950636"/>
                <a:ext cx="314327" cy="108585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096AA1DB-B7C8-4D5C-A7FB-4F8E781C65AC}"/>
                  </a:ext>
                </a:extLst>
              </p:cNvPr>
              <p:cNvPicPr/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72875" y="1232535"/>
                <a:ext cx="314327" cy="108585"/>
              </a:xfrm>
              <a:prstGeom prst="rect">
                <a:avLst/>
              </a:prstGeom>
            </p:spPr>
          </p:pic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6E23AC5E-FE2C-45D3-93B9-586C1AD671E1}"/>
                  </a:ext>
                </a:extLst>
              </p:cNvPr>
              <p:cNvPicPr/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965" y="1232534"/>
                <a:ext cx="314327" cy="108585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88E475-E1C4-4481-8667-7A36E67D8EE3}"/>
                </a:ext>
              </a:extLst>
            </p:cNvPr>
            <p:cNvSpPr txBox="1"/>
            <p:nvPr/>
          </p:nvSpPr>
          <p:spPr>
            <a:xfrm flipH="1">
              <a:off x="1578292" y="4859512"/>
              <a:ext cx="92519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Архив</a:t>
              </a: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4D85EEF-1564-4A23-97DE-7399183F9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1084" y="5447454"/>
              <a:ext cx="274320" cy="2773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683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374244" y="6128186"/>
            <a:ext cx="817756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D472D70-F1CA-4A9F-82AD-2E722078E35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744854"/>
            <a:ext cx="6629400" cy="53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35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E68BC855-6F2C-5143-964C-03BAE6FB5902}"/>
              </a:ext>
            </a:extLst>
          </p:cNvPr>
          <p:cNvSpPr/>
          <p:nvPr/>
        </p:nvSpPr>
        <p:spPr>
          <a:xfrm rot="16200000">
            <a:off x="10619873" y="5285873"/>
            <a:ext cx="1347537" cy="1796716"/>
          </a:xfrm>
          <a:prstGeom prst="rtTriangle">
            <a:avLst/>
          </a:prstGeom>
          <a:solidFill>
            <a:srgbClr val="205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82E7E"/>
              </a:solidFill>
            </a:endParaRPr>
          </a:p>
        </p:txBody>
      </p:sp>
      <p:sp>
        <p:nvSpPr>
          <p:cNvPr id="6" name="Прямоугольник: скругленные углы 16">
            <a:extLst>
              <a:ext uri="{FF2B5EF4-FFF2-40B4-BE49-F238E27FC236}">
                <a16:creationId xmlns:a16="http://schemas.microsoft.com/office/drawing/2014/main" id="{1675D4A7-98B7-C6EA-CB31-CEDCF08D40E8}"/>
              </a:ext>
            </a:extLst>
          </p:cNvPr>
          <p:cNvSpPr/>
          <p:nvPr/>
        </p:nvSpPr>
        <p:spPr>
          <a:xfrm>
            <a:off x="11374244" y="6128186"/>
            <a:ext cx="817756" cy="729814"/>
          </a:xfrm>
          <a:prstGeom prst="roundRect">
            <a:avLst/>
          </a:prstGeom>
          <a:solidFill>
            <a:srgbClr val="B9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442" y="48452"/>
            <a:ext cx="1365173" cy="134721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359" y="1367329"/>
            <a:ext cx="1408384" cy="35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2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708FEB7-43CD-477B-9D00-4632B107763B}"/>
              </a:ext>
            </a:extLst>
          </p:cNvPr>
          <p:cNvSpPr/>
          <p:nvPr/>
        </p:nvSpPr>
        <p:spPr>
          <a:xfrm>
            <a:off x="3352799" y="1787561"/>
            <a:ext cx="7363507" cy="1076943"/>
          </a:xfrm>
          <a:prstGeom prst="rect">
            <a:avLst/>
          </a:prstGeom>
          <a:ln>
            <a:solidFill>
              <a:srgbClr val="182E7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525"/>
              </a:spcAft>
            </a:pPr>
            <a:endParaRPr lang="ru-RU" sz="26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EB7436-7354-4383-8C11-79FA8E2A518F}"/>
              </a:ext>
            </a:extLst>
          </p:cNvPr>
          <p:cNvSpPr/>
          <p:nvPr/>
        </p:nvSpPr>
        <p:spPr>
          <a:xfrm>
            <a:off x="0" y="-24876"/>
            <a:ext cx="2224271" cy="6882876"/>
          </a:xfrm>
          <a:prstGeom prst="rect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117" y="200044"/>
            <a:ext cx="1608683" cy="1587517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-114897" y="3129445"/>
            <a:ext cx="2278708" cy="574235"/>
          </a:xfrm>
          <a:prstGeom prst="rect">
            <a:avLst/>
          </a:prstGeom>
        </p:spPr>
      </p:pic>
      <p:sp>
        <p:nvSpPr>
          <p:cNvPr id="20" name="Овал 19"/>
          <p:cNvSpPr/>
          <p:nvPr/>
        </p:nvSpPr>
        <p:spPr>
          <a:xfrm>
            <a:off x="328428" y="5251389"/>
            <a:ext cx="1392060" cy="1307640"/>
          </a:xfrm>
          <a:prstGeom prst="ellipse">
            <a:avLst/>
          </a:prstGeom>
          <a:solidFill>
            <a:srgbClr val="F0F0F0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-135640" y="5705154"/>
            <a:ext cx="24955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000" b="1" dirty="0">
                <a:solidFill>
                  <a:srgbClr val="182E7E"/>
                </a:solidFill>
                <a:latin typeface="Times New Roman" pitchFamily="18" charset="0"/>
                <a:cs typeface="Times New Roman" pitchFamily="18" charset="0"/>
              </a:rPr>
              <a:t>2024 г.</a:t>
            </a: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3517276" y="2110378"/>
            <a:ext cx="7034552" cy="484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766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C1A2-F293-5608-6B7B-32F72D9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EB7436-7354-4383-8C11-79FA8E2A518F}"/>
              </a:ext>
            </a:extLst>
          </p:cNvPr>
          <p:cNvSpPr/>
          <p:nvPr/>
        </p:nvSpPr>
        <p:spPr>
          <a:xfrm>
            <a:off x="0" y="-40116"/>
            <a:ext cx="2224271" cy="6882876"/>
          </a:xfrm>
          <a:prstGeom prst="rect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117" y="200044"/>
            <a:ext cx="1608683" cy="1587517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1941380" y="266739"/>
            <a:ext cx="9897694" cy="793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b="1" spc="100" dirty="0">
                <a:solidFill>
                  <a:srgbClr val="000000"/>
                </a:solidFill>
                <a:latin typeface="Times New Roman" panose="02020603050405020304" pitchFamily="18" charset="0"/>
                <a:ea typeface="Arial Regular"/>
                <a:cs typeface="Times New Roman" panose="02020603050405020304" pitchFamily="18" charset="0"/>
              </a:rPr>
              <a:t>Майкопский государственный гуманитарно-технический колледж</a:t>
            </a:r>
            <a:br>
              <a:rPr b="1" spc="100" dirty="0">
                <a:latin typeface="Times New Roman" panose="02020603050405020304" pitchFamily="18" charset="0"/>
                <a:ea typeface="Arial Regular"/>
                <a:cs typeface="Times New Roman" panose="02020603050405020304" pitchFamily="18" charset="0"/>
              </a:rPr>
            </a:br>
            <a:r>
              <a:rPr lang="en-US" b="1" spc="100" dirty="0">
                <a:solidFill>
                  <a:srgbClr val="000000"/>
                </a:solidFill>
                <a:latin typeface="Times New Roman" panose="02020603050405020304" pitchFamily="18" charset="0"/>
                <a:ea typeface="Arial Regular"/>
                <a:cs typeface="Times New Roman" panose="02020603050405020304" pitchFamily="18" charset="0"/>
              </a:rPr>
              <a:t>федерального государственного бюджетного образовательного учреждения
высшего образования «Адыгейский государственный университет»</a:t>
            </a:r>
            <a:endParaRPr lang="en-US" b="1" spc="100" dirty="0">
              <a:latin typeface="Times New Roman" panose="02020603050405020304" pitchFamily="18" charset="0"/>
              <a:ea typeface="Arial Regular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67038" y="1844594"/>
            <a:ext cx="10646377" cy="60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75"/>
              </a:lnSpc>
              <a:buNone/>
            </a:pPr>
            <a:r>
              <a:rPr lang="ru-RU" sz="2200" dirty="0">
                <a:solidFill>
                  <a:srgbClr val="182E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ДИПЛОМНЫЙ ПРОЕКТ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048914" y="3024462"/>
            <a:ext cx="100571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800" b="1" dirty="0">
                <a:solidFill>
                  <a:srgbClr val="20599D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dirty="0">
                <a:solidFill>
                  <a:srgbClr val="182E7E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Разработка программно-технических мероприятий по защите информации на объекте</a:t>
            </a:r>
            <a:endParaRPr lang="ru-RU" altLang="ru-RU" sz="2200" dirty="0">
              <a:solidFill>
                <a:srgbClr val="182E7E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406896" y="2635434"/>
            <a:ext cx="102749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на тему: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463692" y="5517905"/>
            <a:ext cx="4399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Выполнил: студент группы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ОИБ-4</a:t>
            </a:r>
          </a:p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ФИО</a:t>
            </a:r>
            <a:endParaRPr lang="ru-RU" alt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Руководитель: ФИО</a:t>
            </a:r>
            <a:endParaRPr lang="ru-RU" alt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863099" y="4275264"/>
            <a:ext cx="80542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специальность 10.02.05 Обеспечение информационной безопасности  автоматизированных систем</a:t>
            </a:r>
            <a:endParaRPr lang="ru-RU" alt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-114897" y="3129445"/>
            <a:ext cx="2278708" cy="574235"/>
          </a:xfrm>
          <a:prstGeom prst="rect">
            <a:avLst/>
          </a:prstGeom>
        </p:spPr>
      </p:pic>
      <p:sp>
        <p:nvSpPr>
          <p:cNvPr id="20" name="Овал 19"/>
          <p:cNvSpPr/>
          <p:nvPr/>
        </p:nvSpPr>
        <p:spPr>
          <a:xfrm>
            <a:off x="328428" y="5251389"/>
            <a:ext cx="1392060" cy="1307640"/>
          </a:xfrm>
          <a:prstGeom prst="ellipse">
            <a:avLst/>
          </a:prstGeom>
          <a:solidFill>
            <a:srgbClr val="F0F0F0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-135640" y="5705154"/>
            <a:ext cx="24955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2000" b="1" dirty="0">
                <a:solidFill>
                  <a:srgbClr val="182E7E"/>
                </a:solidFill>
                <a:latin typeface="Times New Roman" pitchFamily="18" charset="0"/>
                <a:cs typeface="Times New Roman" pitchFamily="18" charset="0"/>
              </a:rPr>
              <a:t>2024 г.</a:t>
            </a:r>
          </a:p>
        </p:txBody>
      </p:sp>
    </p:spTree>
    <p:extLst>
      <p:ext uri="{BB962C8B-B14F-4D97-AF65-F5344CB8AC3E}">
        <p14:creationId xmlns:p14="http://schemas.microsoft.com/office/powerpoint/2010/main" val="29872229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349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Times New Roman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Сафронов</dc:creator>
  <cp:lastModifiedBy>Сафронов Никита</cp:lastModifiedBy>
  <cp:revision>9</cp:revision>
  <dcterms:created xsi:type="dcterms:W3CDTF">2024-06-12T09:53:52Z</dcterms:created>
  <dcterms:modified xsi:type="dcterms:W3CDTF">2026-02-10T16:04:54Z</dcterms:modified>
</cp:coreProperties>
</file>